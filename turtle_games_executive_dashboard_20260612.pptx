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6400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Georgia"/>
              </a:rPr>
              <a:t>Turtle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098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FFFFFF"/>
                </a:solidFill>
                <a:latin typeface="Georgia"/>
              </a:rPr>
              <a:t>Customer &amp; Loyalty Analytics —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3827487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lang="en-US" sz="1400" b="0" dirty="0">
                <a:solidFill>
                  <a:srgbClr val="CBD5E1"/>
                </a:solidFill>
                <a:latin typeface="Calibri"/>
              </a:rPr>
              <a:t>S</a:t>
            </a:r>
            <a:r>
              <a:rPr sz="1400" b="0" dirty="0">
                <a:solidFill>
                  <a:srgbClr val="CBD5E1"/>
                </a:solidFill>
                <a:latin typeface="Calibri"/>
              </a:rPr>
              <a:t>ummary of customer segments, drivers of loyalty, predictive models, sentiment, and product portfolio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Dataset: turtle_reviews.csv (2,000 customers)    ·    Data Analytics — LSE DA301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KPI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Executive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Complete customer records analysed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508760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508760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1783080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MEAN LOYALTY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10312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1,578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26080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Average points per 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508760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08760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783080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MODEL STRENGTH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10312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82.7%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926080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Variance in loyalty explained by Pay + Spend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5984" y="1508760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15984" y="1508760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584" y="1783080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POSITIVE SENTIMENT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10312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89%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26080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VADER reviews positive · mean compound 0.645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31336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3831336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105656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K-MEANS SEGMENTS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25696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48656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Validated by Elbow + Silhouette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0128" y="3831336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10128" y="3831336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105656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LOYALTY GINI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425696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0.415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248656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Concentration risk in the loyalty programme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3831336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63056" y="3831336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1656" y="4105656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PEAK COHORT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4425696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3,410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5248656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Age 26–35 × top pay quartile (loyalty pts)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15984" y="3831336"/>
            <a:ext cx="2688336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15984" y="3831336"/>
            <a:ext cx="2688336" cy="3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44584" y="4105656"/>
            <a:ext cx="22311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4584" y="4425696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A2540"/>
                </a:solidFill>
                <a:latin typeface="Georgia"/>
              </a:rPr>
              <a:t>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5248656"/>
            <a:ext cx="223113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5 urgent-attention products flagged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475569"/>
                </a:solidFill>
                <a:latin typeface="Calibri"/>
              </a:rPr>
              <a:t>COMMERCIAL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Georgia"/>
              </a:rPr>
              <a:t>Loyalty is </a:t>
            </a:r>
            <a:r>
              <a:rPr sz="2800" b="1" dirty="0" err="1">
                <a:solidFill>
                  <a:srgbClr val="0A2540"/>
                </a:solidFill>
                <a:latin typeface="Georgia"/>
              </a:rPr>
              <a:t>behavioural</a:t>
            </a:r>
            <a:r>
              <a:rPr sz="2800" b="1" dirty="0">
                <a:solidFill>
                  <a:srgbClr val="0A2540"/>
                </a:solidFill>
                <a:latin typeface="Georgia"/>
              </a:rPr>
              <a:t>, not demographic.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475569"/>
                </a:solidFill>
                <a:latin typeface="Calibri"/>
              </a:rPr>
              <a:t>Spending </a:t>
            </a:r>
            <a:r>
              <a:rPr sz="1500" b="0" dirty="0" err="1">
                <a:solidFill>
                  <a:srgbClr val="475569"/>
                </a:solidFill>
                <a:latin typeface="Calibri"/>
              </a:rPr>
              <a:t>behaviour</a:t>
            </a:r>
            <a:r>
              <a:rPr sz="1500" b="0" dirty="0">
                <a:solidFill>
                  <a:srgbClr val="475569"/>
                </a:solidFill>
                <a:latin typeface="Calibri"/>
              </a:rPr>
              <a:t> and remuneration jointly explain 82.7% of variance in loyalty, with an interaction model reaching R² = 0.977. Age and gender are statistical noise. The growth strategy is therefore segment-led: retain the elite, activate the affluent, and move Growth customers past the spend = 67 threshold.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Spend → Loyalty (Pearson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0A2540"/>
                </a:solidFill>
                <a:latin typeface="Georgia"/>
              </a:rPr>
              <a:t>0.672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29184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3566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Pay → Loyalty (Pearson 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02336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0A2540"/>
                </a:solidFill>
                <a:latin typeface="Georgia"/>
              </a:rPr>
              <a:t>0.616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29184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Age → Loyalty (Pearson 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0A2540"/>
                </a:solidFill>
                <a:latin typeface="Georgia"/>
              </a:rPr>
              <a:t>-0.042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9184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566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Pay × Spend independence (r)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02336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0A2540"/>
                </a:solidFill>
                <a:latin typeface="Georgia"/>
              </a:rPr>
              <a:t>0.002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CUSTOMER SEGMENTATION (K-MEANS, K=5)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Georgia"/>
              </a:rPr>
              <a:t>Five customer segments — strategy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943600" cy="4035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5544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LOYALTY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5544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5120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2280" y="2084832"/>
            <a:ext cx="91440" cy="38404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208483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VIP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08483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Georgia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8483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D4AF37"/>
                </a:solidFill>
                <a:latin typeface="Georgia"/>
              </a:rPr>
              <a:t>3,988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0574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Retain with platinum treatment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706624"/>
            <a:ext cx="5120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12280" y="2871216"/>
            <a:ext cx="91440" cy="3840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287121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87121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Georgia"/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87121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Georgia"/>
              </a:rPr>
              <a:t>1,420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8437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Upgrade via spend multipliers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493008"/>
            <a:ext cx="5120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12280" y="3657600"/>
            <a:ext cx="91440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60" y="36576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Untapped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6576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Georgia"/>
              </a:rPr>
              <a:t>13%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6576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Georgia"/>
              </a:rPr>
              <a:t>912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630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Highest-priority activation campaign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279392"/>
            <a:ext cx="5120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12280" y="4443984"/>
            <a:ext cx="9144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444398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Engaged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444398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Georgia"/>
              </a:rPr>
              <a:t>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44398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Georgia"/>
              </a:rPr>
              <a:t>972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416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Protect with value-based rewards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5065776"/>
            <a:ext cx="5120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12280" y="5230368"/>
            <a:ext cx="91440" cy="3840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95160" y="523036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Dormant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52303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Georgia"/>
              </a:rPr>
              <a:t>14%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23036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Georgia"/>
              </a:rPr>
              <a:t>275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20293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Automated low-cost win-back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24FA58A-3407-5979-1C8F-961BADD8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3" y="998876"/>
            <a:ext cx="11717370" cy="3866733"/>
          </a:xfrm>
          <a:prstGeom prst="rect">
            <a:avLst/>
          </a:prstGeom>
          <a:ln>
            <a:noFill/>
          </a:ln>
        </p:spPr>
      </p:pic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DB17B-5ADE-B7BE-317A-4F0D5BC31807}"/>
              </a:ext>
            </a:extLst>
          </p:cNvPr>
          <p:cNvSpPr txBox="1"/>
          <p:nvPr/>
        </p:nvSpPr>
        <p:spPr>
          <a:xfrm>
            <a:off x="821564" y="5252814"/>
            <a:ext cx="11036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k=5</a:t>
            </a:r>
            <a:r>
              <a:rPr lang="en-US" sz="1600" dirty="0">
                <a:latin typeface="+mj-lt"/>
              </a:rPr>
              <a:t> is confirmed as optimal by both Elbow Method and Silhouette scoring</a:t>
            </a:r>
          </a:p>
          <a:p>
            <a:r>
              <a:rPr lang="en-US" sz="1600" b="1" dirty="0">
                <a:latin typeface="+mj-lt"/>
              </a:rPr>
              <a:t>Cluster A (VIP):</a:t>
            </a:r>
            <a:r>
              <a:rPr lang="en-US" sz="1600" dirty="0">
                <a:latin typeface="+mj-lt"/>
              </a:rPr>
              <a:t> 356 customers, mean loyalty 3,988 pts — protect at all costs</a:t>
            </a:r>
          </a:p>
          <a:p>
            <a:r>
              <a:rPr lang="en-US" sz="1600" b="1" dirty="0">
                <a:latin typeface="+mj-lt"/>
              </a:rPr>
              <a:t>Cluster C (Untapped):</a:t>
            </a:r>
            <a:r>
              <a:rPr lang="en-US" sz="1600" dirty="0">
                <a:latin typeface="+mj-lt"/>
              </a:rPr>
              <a:t> High pay (£74.8k) but low spend (17) — greatest marketing opportunity</a:t>
            </a:r>
          </a:p>
          <a:p>
            <a:r>
              <a:rPr lang="en-US" sz="1600" b="1" dirty="0">
                <a:latin typeface="+mj-lt"/>
              </a:rPr>
              <a:t>Cluster B (Growth):</a:t>
            </a:r>
            <a:r>
              <a:rPr lang="en-US" sz="1600" dirty="0">
                <a:latin typeface="+mj-lt"/>
              </a:rPr>
              <a:t>774 customers — largest segment with upsell potential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17288-A14E-5B19-3C4C-7311F9FC5F30}"/>
              </a:ext>
            </a:extLst>
          </p:cNvPr>
          <p:cNvSpPr txBox="1"/>
          <p:nvPr/>
        </p:nvSpPr>
        <p:spPr>
          <a:xfrm>
            <a:off x="537663" y="555752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A2540"/>
                </a:solidFill>
                <a:latin typeface="Georgia"/>
              </a:rPr>
              <a:t> </a:t>
            </a:r>
            <a:r>
              <a:rPr lang="en-US" sz="2800" b="1" dirty="0">
                <a:solidFill>
                  <a:srgbClr val="0A2540"/>
                </a:solidFill>
                <a:latin typeface="Georgia"/>
              </a:rPr>
              <a:t>Customer Segmentation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404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PAY QUARTILE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Higher pay sharply lifts loyalty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858000" cy="43105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645920"/>
            <a:ext cx="4023360" cy="4114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KEY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945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Q4 vs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0604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D4AF37"/>
                </a:solidFill>
                <a:latin typeface="Georgia"/>
              </a:rPr>
              <a:t>+362%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02336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Q4 customers generate 362% more loyalty than Q1.
Income is the strongest demographic predictor of loyalty after spending behaviour.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OPERATIONAL CRM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Decision boundary — spend = 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498079" cy="46833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BELOW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Georgia"/>
              </a:rPr>
              <a:t>1,432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Calibri"/>
              </a:rPr>
              <a:t>ABOVE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0040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D4AF37"/>
                </a:solidFill>
                <a:latin typeface="Georgia"/>
              </a:rPr>
              <a:t>3,021+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1480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475569"/>
                </a:solidFill>
                <a:latin typeface="Calibri"/>
              </a:rPr>
              <a:t>Decision-tree regressor identifies spend = 67 as the most useful operational trigger. Customers in the 50–67 spend band should receive upgrade nudges, multiplier events and targeted product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AGE × PAY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The golden cell — age 26–35 × top pay quartile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132320" cy="49717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645920"/>
            <a:ext cx="3931920" cy="4114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OPTIMAL CUSTOMER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94560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3,410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66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Mean loyalty — age 26–35 +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9319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2.2× the dataset mean (1,578). Target acquisition on LinkedIn / Instagram, career-stage content. Retain before they age out of peak loyalty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REGRESSION + TREE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Georgia"/>
              </a:rPr>
              <a:t>Predictive models — what actually drives loyalty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0" cy="3657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OLS · Spend → 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45.0%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391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Strong single driver but heteroscedastic (Breusch-Pagan p &lt; 0.001).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OLS · Spend → log(Loyalty)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52.0%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4203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Log-transform reduces variance; β = 0.028 per spend 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OLS · Pay → Loyalty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38.0%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0449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Significant but weaker than spend.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OLS · Pay → log(Loyalty)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28.0%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5478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Homoscedastic after log transform.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4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OLS · Age → Loyalty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069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0.2%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05079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No meaningful linear relationship.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7315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MLR · Pay + Spend → Loyalty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572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83.0%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55371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VIF = 1.00 (no multicollinearity). Validated on 20% hold-out: 81%.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8348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MLR with Interaction term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074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97.7%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05663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Pay × Spend interaction captures non-linear synergy.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86400"/>
            <a:ext cx="7315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57784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A2540"/>
                </a:solidFill>
                <a:latin typeface="Calibri"/>
              </a:rPr>
              <a:t>Decision Tree (pruned d=4)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577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Georgia"/>
              </a:rPr>
              <a:t>89.0%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5559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Identifies spend = 67 as primary split.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554480"/>
            <a:ext cx="4114800" cy="2449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CONCENTRATION RISK · GINI = 0.415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Loyalty is highly concentrated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943600" cy="45008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5029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169164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>
                <a:solidFill>
                  <a:srgbClr val="0A2540"/>
                </a:solidFill>
                <a:latin typeface="Georgia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Top 25% of customers hold 54% of all loyalty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108960"/>
            <a:ext cx="5029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0" y="310896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32918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>
                <a:solidFill>
                  <a:srgbClr val="0A2540"/>
                </a:solidFill>
                <a:latin typeface="Georgia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4290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Programme value lost if top 200 customers churn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526280"/>
            <a:ext cx="5029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0" y="452628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470916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>
                <a:solidFill>
                  <a:srgbClr val="0A2540"/>
                </a:solidFill>
                <a:latin typeface="Georgia"/>
              </a:rPr>
              <a:t>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8463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Top segment loyalty vs average customer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475569"/>
                </a:solidFill>
                <a:latin typeface="Calibri"/>
              </a:rPr>
              <a:t> URGENT PRODUCTS REQUIRE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4397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Georgia"/>
              </a:rPr>
              <a:t>Product portfolio risk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8544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32B876-AF31-52A3-469B-46CB70AD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845896"/>
            <a:ext cx="9600885" cy="4737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152FC-65C2-CC14-011F-E1E5F2B56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08" y="998876"/>
            <a:ext cx="9239812" cy="589038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3BEE0-84E2-770F-B312-ACA95BE86054}"/>
              </a:ext>
            </a:extLst>
          </p:cNvPr>
          <p:cNvSpPr txBox="1"/>
          <p:nvPr/>
        </p:nvSpPr>
        <p:spPr>
          <a:xfrm>
            <a:off x="1670670" y="250158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0A2540"/>
                </a:solidFill>
                <a:latin typeface="Georgia"/>
              </a:rPr>
              <a:t>Product performance matrix</a:t>
            </a:r>
          </a:p>
        </p:txBody>
      </p:sp>
    </p:spTree>
    <p:extLst>
      <p:ext uri="{BB962C8B-B14F-4D97-AF65-F5344CB8AC3E}">
        <p14:creationId xmlns:p14="http://schemas.microsoft.com/office/powerpoint/2010/main" val="6328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NLP · TEXTBLOB + VADER ON 2,000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Voice of the customer — sentiment &amp;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4754880" cy="510709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54480"/>
            <a:ext cx="4206240" cy="34074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18320" y="1554480"/>
            <a:ext cx="2468880" cy="457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0" y="1691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REVIEW SNIPPETS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031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ourier New"/>
              </a:rPr>
              <a:t>+ 0.97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7744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“Absolutely brilliant — my kids cannot put it down. Perfect for family game night.”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ourier New"/>
              </a:rPr>
              <a:t>+ 0.95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56616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“Great quality, fast delivery, excellent value. Will buy again from Turtle Games.”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480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CA5A5"/>
                </a:solidFill>
                <a:latin typeface="Courier New"/>
              </a:rPr>
              <a:t>– -0.86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7548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“Quality control is a problem — pieces missing on arrival and the box was damaged.”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EDUCATION +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Georgia"/>
              </a:rPr>
              <a:t>Demographics — what doesn’t (and what does) move loyalty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Turtle Games · Customer &amp; Loyalty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Prepared Jun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858000" cy="38370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645920"/>
            <a:ext cx="41148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Calibri"/>
              </a:rPr>
              <a:t>GENDER · t-TEST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A2540"/>
                </a:solidFill>
                <a:latin typeface="Georgia"/>
              </a:rPr>
              <a:t>p = 0.363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0604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No significant effect. Loyalty campaigns must be gender-neutral.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46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ourier New"/>
              </a:rPr>
              <a:t>♂ 1,551   ♀ 1,604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931920"/>
            <a:ext cx="4114800" cy="1828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EDUCATION · ANOVA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89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F = 7.23   p &lt;0.001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Significant — but largely a proxy for pay.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54864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STRATEGIC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Retain the elite. Activate the affluent. Fix product risk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7280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728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RETAIN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8483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VIP segment (18%)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0312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Platinum treatment, exclusive access, personalised rewards. Loss of top 200 = 30% programme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097280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9728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Georgia"/>
              </a:rPr>
              <a:t>ACTIVATE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9535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Untapped (13%)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7180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High-income, low-spend. Estimated 6.5× CLV uplift if they behave like VIPs. Highest activation ROI.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1097280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109728" cy="7772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Georgia"/>
              </a:rPr>
              <a:t>UPGRADE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8221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Growth (39%)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4048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Move past the spend = 67 threshold with multiplier events and bundle nudges.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1097280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109728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908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Georgia"/>
              </a:rPr>
              <a:t>PROTECT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69087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Engaged (17%)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70916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Lower income, high spend. Defend with value-based rewards and loyalty tier preservation.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55955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Georgia"/>
              </a:rP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5595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 urgent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57784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Quality-control sweep on the urgent quadrant. Fix returns/instructions/packaging before peak season.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926080"/>
            <a:ext cx="7315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D4AF37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Retain the elite. Activate the affluent. Move Growth past spend 67. Fix product risk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D4AF37"/>
                </a:solidFill>
                <a:latin typeface="Calibri"/>
              </a:rPr>
              <a:t>Turtle Games ·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1072</Words>
  <Application>Microsoft Office PowerPoint</Application>
  <PresentationFormat>Widescreen</PresentationFormat>
  <Paragraphs>191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Sadia Yusuf</cp:lastModifiedBy>
  <cp:revision>8</cp:revision>
  <dcterms:created xsi:type="dcterms:W3CDTF">2013-01-27T09:14:16Z</dcterms:created>
  <dcterms:modified xsi:type="dcterms:W3CDTF">2026-06-13T16:34:07Z</dcterms:modified>
  <cp:category/>
</cp:coreProperties>
</file>